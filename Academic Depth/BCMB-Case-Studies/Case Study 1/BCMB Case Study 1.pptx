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3" r:id="rId1"/>
  </p:sldMasterIdLst>
  <p:sldIdLst>
    <p:sldId id="256" r:id="rId2"/>
    <p:sldId id="262" r:id="rId3"/>
    <p:sldId id="257" r:id="rId4"/>
    <p:sldId id="263" r:id="rId5"/>
    <p:sldId id="258" r:id="rId6"/>
    <p:sldId id="259" r:id="rId7"/>
    <p:sldId id="264" r:id="rId8"/>
    <p:sldId id="260" r:id="rId9"/>
    <p:sldId id="261" r:id="rId10"/>
    <p:sldId id="265" r:id="rId11"/>
  </p:sldIdLst>
  <p:sldSz cx="12192000" cy="6858000"/>
  <p:notesSz cx="6858000" cy="9144000"/>
  <p:defaultTextStyle>
    <a:defPPr>
      <a:defRPr lang="en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6" autoAdjust="0"/>
    <p:restoredTop sz="94660"/>
  </p:normalViewPr>
  <p:slideViewPr>
    <p:cSldViewPr snapToGrid="0">
      <p:cViewPr varScale="1">
        <p:scale>
          <a:sx n="68" d="100"/>
          <a:sy n="68" d="100"/>
        </p:scale>
        <p:origin x="616" y="6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: Shape 6">
            <a:extLst>
              <a:ext uri="{FF2B5EF4-FFF2-40B4-BE49-F238E27FC236}">
                <a16:creationId xmlns:a16="http://schemas.microsoft.com/office/drawing/2014/main" id="{EA67E988-5919-57BB-C7DE-D3EAD38A30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17870" y="6209925"/>
            <a:ext cx="11155680" cy="45719"/>
          </a:xfrm>
          <a:custGeom>
            <a:avLst/>
            <a:gdLst>
              <a:gd name="connsiteX0" fmla="*/ 0 w 8715708"/>
              <a:gd name="connsiteY0" fmla="*/ 0 h 45719"/>
              <a:gd name="connsiteX1" fmla="*/ 3694525 w 8715708"/>
              <a:gd name="connsiteY1" fmla="*/ 0 h 45719"/>
              <a:gd name="connsiteX2" fmla="*/ 5021183 w 8715708"/>
              <a:gd name="connsiteY2" fmla="*/ 0 h 45719"/>
              <a:gd name="connsiteX3" fmla="*/ 8715708 w 8715708"/>
              <a:gd name="connsiteY3" fmla="*/ 0 h 45719"/>
              <a:gd name="connsiteX4" fmla="*/ 8715708 w 8715708"/>
              <a:gd name="connsiteY4" fmla="*/ 45719 h 45719"/>
              <a:gd name="connsiteX5" fmla="*/ 5021183 w 8715708"/>
              <a:gd name="connsiteY5" fmla="*/ 45719 h 45719"/>
              <a:gd name="connsiteX6" fmla="*/ 3694525 w 8715708"/>
              <a:gd name="connsiteY6" fmla="*/ 45719 h 45719"/>
              <a:gd name="connsiteX7" fmla="*/ 0 w 8715708"/>
              <a:gd name="connsiteY7" fmla="*/ 45719 h 457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8715708" h="45719">
                <a:moveTo>
                  <a:pt x="0" y="0"/>
                </a:moveTo>
                <a:lnTo>
                  <a:pt x="3694525" y="0"/>
                </a:lnTo>
                <a:lnTo>
                  <a:pt x="5021183" y="0"/>
                </a:lnTo>
                <a:lnTo>
                  <a:pt x="8715708" y="0"/>
                </a:lnTo>
                <a:lnTo>
                  <a:pt x="8715708" y="45719"/>
                </a:lnTo>
                <a:lnTo>
                  <a:pt x="5021183" y="45719"/>
                </a:lnTo>
                <a:lnTo>
                  <a:pt x="3694525" y="45719"/>
                </a:lnTo>
                <a:lnTo>
                  <a:pt x="0" y="45719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B2327B2-BA4B-2C04-0751-5CB63D4AA42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21208" y="978408"/>
            <a:ext cx="11155680" cy="3429000"/>
          </a:xfrm>
        </p:spPr>
        <p:txBody>
          <a:bodyPr anchor="t">
            <a:normAutofit/>
          </a:bodyPr>
          <a:lstStyle>
            <a:lvl1pPr algn="l">
              <a:defRPr sz="7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7201176-DC7A-4C3D-3D8F-352526DA7B5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21208" y="4480560"/>
            <a:ext cx="7104888" cy="1399032"/>
          </a:xfrm>
        </p:spPr>
        <p:txBody>
          <a:bodyPr anchor="b">
            <a:normAutofit/>
          </a:bodyPr>
          <a:lstStyle>
            <a:lvl1pPr marL="0" indent="0" algn="l">
              <a:buNone/>
              <a:defRPr sz="2200" i="1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67DC221-9A2E-7459-102F-C3CFB27CC3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12/17/2025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5020671-6F7D-3A03-EEC1-661A87F96F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2453D3A-E0F9-8386-2A6C-96671FBB15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37037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A26D03-149A-DAB3-4B2A-E9B74F2E25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3C1E73D-41A7-9934-0990-9208B952329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8BB2A3F-E719-673C-5D56-F663712D0E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12/17/2025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4AE594A-52F5-D85E-343C-ADFEE3C72E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07D5C9C-B2E2-FC26-E459-9E880EF975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53266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29D51F-B2D5-2804-4F7C-C99850FBD0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5020056" cy="4288536"/>
          </a:xfrm>
        </p:spPr>
        <p:txBody>
          <a:bodyPr anchor="t">
            <a:normAutofit/>
          </a:bodyPr>
          <a:lstStyle>
            <a:lvl1pPr>
              <a:defRPr sz="5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5FE5516-03B6-C488-EB4A-68AE681EDFB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21208" y="5266944"/>
            <a:ext cx="5020056" cy="1088136"/>
          </a:xfrm>
        </p:spPr>
        <p:txBody>
          <a:bodyPr anchor="b">
            <a:normAutofit/>
          </a:bodyPr>
          <a:lstStyle>
            <a:lvl1pPr marL="0" indent="0">
              <a:buNone/>
              <a:defRPr sz="2200" i="1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0ECB4D7-49A7-D050-70B9-11A1E2D445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12/17/2025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A9A913F-AD00-C1EE-B01A-8590671C01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14FC386-B2AF-6FAD-D053-E22D48CD72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E1E1B67-3BFF-F04B-52F4-7E724FB3B24D}"/>
              </a:ext>
            </a:extLst>
          </p:cNvPr>
          <p:cNvSpPr/>
          <p:nvPr/>
        </p:nvSpPr>
        <p:spPr>
          <a:xfrm>
            <a:off x="517870" y="508090"/>
            <a:ext cx="5021183" cy="14927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436334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CE3B21-CF4D-1B01-0F4E-D32C1B218B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FB39FF2-6858-B514-B695-58442557D0C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21208" y="2578608"/>
            <a:ext cx="5166360" cy="376732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FA30130-974D-B91D-5B93-EC52AABDB5B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519672" y="2578608"/>
            <a:ext cx="5166360" cy="376732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15BED99-6FD7-9C6B-1152-A6E42715BB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12/17/2025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A253AAC-5967-2565-A715-82D3505ABF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4B51313-69FB-E016-3CC1-62CA476ED2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5246867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B3DF9D-B849-CE37-97E4-AD37F88067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11164824" cy="1216152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9D4C626-4008-960A-E601-6AA9F4BB8D8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21208" y="2340864"/>
            <a:ext cx="5166360" cy="658368"/>
          </a:xfrm>
        </p:spPr>
        <p:txBody>
          <a:bodyPr anchor="b">
            <a:normAutofit/>
          </a:bodyPr>
          <a:lstStyle>
            <a:lvl1pPr marL="0" indent="0">
              <a:buNone/>
              <a:defRPr sz="2200" b="0" i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06E8D6C-AC07-ED6B-2EA8-9C40A5AEA74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21208" y="3035808"/>
            <a:ext cx="5166360" cy="331012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C52617E-C6D9-246B-E7B7-8159DF17C0A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519672" y="2340864"/>
            <a:ext cx="5166360" cy="658368"/>
          </a:xfrm>
        </p:spPr>
        <p:txBody>
          <a:bodyPr anchor="b">
            <a:normAutofit/>
          </a:bodyPr>
          <a:lstStyle>
            <a:lvl1pPr marL="0" indent="0">
              <a:buNone/>
              <a:defRPr sz="2200" b="0" i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DBC2094-7EBC-02C5-5AB5-233E63080A9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519672" y="3035808"/>
            <a:ext cx="5166360" cy="331012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3010BD2-59B4-FD2E-3C5E-C83AE60039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12/17/2025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72B35C4-A654-7759-BDA0-94D9D1A216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55F4347-2EC0-CA6E-2637-8048456D7E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939780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34716D-52F2-C7FB-83B1-2DA1AD375E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6F4A371-AC27-6A28-32E6-74A28371BF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12/17/2025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155941A-A24E-885D-E894-0326F4C400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9D5E5B4-971F-FF6A-1B07-A5C8537055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148231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99F431F-E6DC-4137-3092-A30A0A3628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12/17/2025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6AC814B-67B4-C70F-FA51-6205D5E2CB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1EAA9C9-D895-DD20-1089-EA75EA4289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681186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B50562-884C-9053-70C1-3B72A0B45E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5020056" cy="2459736"/>
          </a:xfrm>
        </p:spPr>
        <p:txBody>
          <a:bodyPr anchor="t">
            <a:noAutofit/>
          </a:bodyPr>
          <a:lstStyle>
            <a:lvl1pPr>
              <a:defRPr sz="4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18F509-68F0-39D5-1A8B-CE246715AE4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519672" y="987424"/>
            <a:ext cx="5166360" cy="5358384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158E37C-27CE-3A84-FC74-BDCCD8A9A3E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21208" y="3575304"/>
            <a:ext cx="5020056" cy="2770632"/>
          </a:xfrm>
        </p:spPr>
        <p:txBody>
          <a:bodyPr>
            <a:normAutofit/>
          </a:bodyPr>
          <a:lstStyle>
            <a:lvl1pPr marL="0" indent="0">
              <a:buNone/>
              <a:defRPr sz="2200" i="1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2A95F79-E23E-11D2-40BF-66ED340195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12/17/2025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457F7FC-06F3-3D89-5D1A-4EC4B1D735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554ACD5-6E0B-5713-DC9A-41E9D62AB1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234438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5B2D45-7CDB-D38C-2AAE-273F797674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5020056" cy="2459736"/>
          </a:xfrm>
        </p:spPr>
        <p:txBody>
          <a:bodyPr anchor="t">
            <a:noAutofit/>
          </a:bodyPr>
          <a:lstStyle>
            <a:lvl1pPr>
              <a:defRPr sz="4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CBF0855-1744-56E4-B115-3A3C5EA7834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6519672" y="987424"/>
            <a:ext cx="5166360" cy="5358384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85E8A1D-28AE-4A19-BD96-401D4822A53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21208" y="3575304"/>
            <a:ext cx="5020056" cy="2770632"/>
          </a:xfrm>
        </p:spPr>
        <p:txBody>
          <a:bodyPr>
            <a:normAutofit/>
          </a:bodyPr>
          <a:lstStyle>
            <a:lvl1pPr marL="0" indent="0">
              <a:buNone/>
              <a:defRPr sz="2200" i="1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7327DDB-CE95-4C89-DFC5-7DDBFC24E8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12/17/2025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522C835-F3B5-943C-FFC4-D5BA9666AF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8709891-6E3C-ADED-01DD-15FCED37AF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048864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C36771-E72D-FAD8-771E-3E196DD2E1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B5BB827-257D-60D9-792F-E6959004297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CE5D2E7-C856-F78A-E88C-375474982A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12/17/2025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FDAB289-9591-51C9-9E3C-B6F2ACC6A6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7FE037C-790D-7442-8E43-D2740B3952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892294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2635151-A38B-3766-6A32-FF1DF7687D9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659368" y="978408"/>
            <a:ext cx="2551176" cy="5367528"/>
          </a:xfrm>
        </p:spPr>
        <p:txBody>
          <a:bodyPr vert="eaVert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3D132D1-640C-FB9A-AD6F-D845738349F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521208" y="978408"/>
            <a:ext cx="8010144" cy="5367528"/>
          </a:xfrm>
        </p:spPr>
        <p:txBody>
          <a:bodyPr vert="eaVert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955F80A-4BA7-8ED8-9A62-B921942726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12/17/2025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5E38113-D55A-A1A0-D1FE-53C95860FB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8919DDB-F89D-4B2D-21A2-82AF1D1023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62572D8-D485-1DB1-34B1-C35C61C89940}"/>
              </a:ext>
            </a:extLst>
          </p:cNvPr>
          <p:cNvSpPr/>
          <p:nvPr/>
        </p:nvSpPr>
        <p:spPr>
          <a:xfrm rot="5400000">
            <a:off x="8936623" y="3585018"/>
            <a:ext cx="5325734" cy="14927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764515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31A28D7-6581-4956-AAE3-9104804DF5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11155680" cy="146304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3CFCCA4-57A4-08A1-FC45-D2BBA66FABF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21208" y="2578608"/>
            <a:ext cx="11155680" cy="376732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0FAA0F4-2442-8D45-3C3D-1B8F55C8683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521208" y="6419088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fld id="{E80C50CD-E178-4744-9B35-B2F624D6C5E9}" type="datetimeFigureOut">
              <a:rPr lang="en-US" smtClean="0"/>
              <a:pPr/>
              <a:t>12/17/2025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E03785E-FB42-1D54-92AC-D0A61A8FABD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21208" y="100584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CC9CF34-1274-DB45-4809-90E5D244A9A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57432" y="6419088"/>
            <a:ext cx="64008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/>
                </a:solidFill>
              </a:defRPr>
            </a:lvl1pPr>
          </a:lstStyle>
          <a:p>
            <a:fld id="{148CC95F-0247-41B6-91CF-DC97C76A7088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Freeform: Shape 6">
            <a:extLst>
              <a:ext uri="{FF2B5EF4-FFF2-40B4-BE49-F238E27FC236}">
                <a16:creationId xmlns:a16="http://schemas.microsoft.com/office/drawing/2014/main" id="{774A975B-A886-5202-0489-6965514A0D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17869" y="508090"/>
            <a:ext cx="11153214" cy="149279"/>
          </a:xfrm>
          <a:custGeom>
            <a:avLst/>
            <a:gdLst>
              <a:gd name="connsiteX0" fmla="*/ 0 w 8085002"/>
              <a:gd name="connsiteY0" fmla="*/ 0 h 149279"/>
              <a:gd name="connsiteX1" fmla="*/ 8085002 w 8085002"/>
              <a:gd name="connsiteY1" fmla="*/ 0 h 149279"/>
              <a:gd name="connsiteX2" fmla="*/ 8085002 w 8085002"/>
              <a:gd name="connsiteY2" fmla="*/ 149279 h 149279"/>
              <a:gd name="connsiteX3" fmla="*/ 0 w 8085002"/>
              <a:gd name="connsiteY3" fmla="*/ 149279 h 1492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085002" h="149279">
                <a:moveTo>
                  <a:pt x="0" y="0"/>
                </a:moveTo>
                <a:lnTo>
                  <a:pt x="8085002" y="0"/>
                </a:lnTo>
                <a:lnTo>
                  <a:pt x="8085002" y="149279"/>
                </a:lnTo>
                <a:lnTo>
                  <a:pt x="0" y="149279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371256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8" r:id="rId1"/>
    <p:sldLayoutId id="2147483669" r:id="rId2"/>
    <p:sldLayoutId id="2147483670" r:id="rId3"/>
    <p:sldLayoutId id="2147483671" r:id="rId4"/>
    <p:sldLayoutId id="2147483672" r:id="rId5"/>
    <p:sldLayoutId id="2147483666" r:id="rId6"/>
    <p:sldLayoutId id="2147483662" r:id="rId7"/>
    <p:sldLayoutId id="2147483663" r:id="rId8"/>
    <p:sldLayoutId id="2147483664" r:id="rId9"/>
    <p:sldLayoutId id="2147483665" r:id="rId10"/>
    <p:sldLayoutId id="2147483667" r:id="rId11"/>
  </p:sldLayoutIdLst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44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10000"/>
        </a:lnSpc>
        <a:spcBef>
          <a:spcPts val="1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3.png"/><Relationship Id="rId5" Type="http://schemas.openxmlformats.org/officeDocument/2006/relationships/image" Target="../media/image80.png"/><Relationship Id="rId4" Type="http://schemas.openxmlformats.org/officeDocument/2006/relationships/image" Target="../media/image12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B7E2F724-2FB3-4D1D-A730-739B8654C03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2"/>
            <a:ext cx="12192000" cy="6858001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ED6CDA26-7848-9326-68A2-DB83EC26F230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40000"/>
          </a:blip>
          <a:srcRect t="43750"/>
          <a:stretch>
            <a:fillRect/>
          </a:stretch>
        </p:blipFill>
        <p:spPr>
          <a:xfrm>
            <a:off x="-2" y="-2"/>
            <a:ext cx="12192001" cy="6858001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D1487C93-F49C-BB64-4258-20E201709E5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17870" y="978407"/>
            <a:ext cx="10153272" cy="3290107"/>
          </a:xfrm>
        </p:spPr>
        <p:txBody>
          <a:bodyPr anchor="t">
            <a:normAutofit/>
          </a:bodyPr>
          <a:lstStyle/>
          <a:p>
            <a:r>
              <a:rPr lang="en-IN" sz="6000" dirty="0">
                <a:solidFill>
                  <a:srgbClr val="FFFFFF"/>
                </a:solidFill>
              </a:rPr>
              <a:t>Basics in Computational Methods in Biotechnology</a:t>
            </a:r>
            <a:br>
              <a:rPr lang="en-DE" sz="6000" dirty="0">
                <a:solidFill>
                  <a:srgbClr val="FFFFFF"/>
                </a:solidFill>
              </a:rPr>
            </a:br>
            <a:r>
              <a:rPr lang="en-DE" sz="4800" dirty="0">
                <a:solidFill>
                  <a:srgbClr val="FFFFFF"/>
                </a:solidFill>
              </a:rPr>
              <a:t>Case Study 1</a:t>
            </a:r>
            <a:endParaRPr lang="en-DE" sz="6000" dirty="0">
              <a:solidFill>
                <a:srgbClr val="FFFFFF"/>
              </a:solidFill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D3B9C1F-C0B5-7CCF-F42C-8015520C22D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17870" y="4482450"/>
            <a:ext cx="5040785" cy="1724029"/>
          </a:xfrm>
        </p:spPr>
        <p:txBody>
          <a:bodyPr anchor="t">
            <a:normAutofit fontScale="92500"/>
          </a:bodyPr>
          <a:lstStyle/>
          <a:p>
            <a:pPr>
              <a:lnSpc>
                <a:spcPct val="100000"/>
              </a:lnSpc>
            </a:pPr>
            <a:r>
              <a:rPr lang="en-DE" dirty="0">
                <a:solidFill>
                  <a:srgbClr val="FFFFFF"/>
                </a:solidFill>
              </a:rPr>
              <a:t>Vyshnavi Arunkumar(03803119)</a:t>
            </a:r>
            <a:endParaRPr lang="en-IN" dirty="0">
              <a:solidFill>
                <a:srgbClr val="FFFFFF"/>
              </a:solidFill>
            </a:endParaRPr>
          </a:p>
          <a:p>
            <a:pPr>
              <a:lnSpc>
                <a:spcPct val="100000"/>
              </a:lnSpc>
            </a:pPr>
            <a:r>
              <a:rPr lang="en-DE" dirty="0">
                <a:solidFill>
                  <a:srgbClr val="FFFFFF"/>
                </a:solidFill>
              </a:rPr>
              <a:t> Deepa Ramakrishnan Subathra(03799043)</a:t>
            </a:r>
            <a:endParaRPr lang="en-IN" dirty="0">
              <a:solidFill>
                <a:srgbClr val="FFFFFF"/>
              </a:solidFill>
            </a:endParaRPr>
          </a:p>
          <a:p>
            <a:pPr>
              <a:lnSpc>
                <a:spcPct val="100000"/>
              </a:lnSpc>
            </a:pPr>
            <a:r>
              <a:rPr lang="en-DE" dirty="0">
                <a:solidFill>
                  <a:srgbClr val="FFFFFF"/>
                </a:solidFill>
              </a:rPr>
              <a:t> Om Mihani(03803669)</a:t>
            </a:r>
            <a:endParaRPr lang="en-DE" sz="1300" dirty="0">
              <a:solidFill>
                <a:srgbClr val="FFFFFF"/>
              </a:solidFill>
            </a:endParaRPr>
          </a:p>
          <a:p>
            <a:pPr>
              <a:lnSpc>
                <a:spcPct val="100000"/>
              </a:lnSpc>
            </a:pPr>
            <a:r>
              <a:rPr lang="en-DE" sz="1500" dirty="0">
                <a:solidFill>
                  <a:srgbClr val="FFFFFF"/>
                </a:solidFill>
              </a:rPr>
              <a:t>17.12.2025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B2C335F7-F61C-4EB4-80F2-4B1438FE66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70" y="508090"/>
            <a:ext cx="5021183" cy="149279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02949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2DEF37E8-289D-8183-43FC-71B9D40E066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3143" y="1035742"/>
            <a:ext cx="5412857" cy="5278243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A130C0A7-F758-DCD3-3065-08C4C5E1BFC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02012" y="3429000"/>
            <a:ext cx="3410426" cy="16575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5604313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408E6D-E783-0A10-8B83-E19B035681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11155680" cy="787571"/>
          </a:xfrm>
        </p:spPr>
        <p:txBody>
          <a:bodyPr/>
          <a:lstStyle/>
          <a:p>
            <a:pPr algn="ctr"/>
            <a:r>
              <a:rPr lang="en-DE" dirty="0"/>
              <a:t>TASK 1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B233105-A143-025C-9C35-47286817F5E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1208" y="2032578"/>
            <a:ext cx="4662436" cy="3980515"/>
          </a:xfrm>
          <a:prstGeom prst="rect">
            <a:avLst/>
          </a:prstGeom>
        </p:spPr>
      </p:pic>
      <p:pic>
        <p:nvPicPr>
          <p:cNvPr id="7" name="Picture 6" descr="A graph of a sinusoid&#10;&#10;AI-generated content may be incorrect.">
            <a:extLst>
              <a:ext uri="{FF2B5EF4-FFF2-40B4-BE49-F238E27FC236}">
                <a16:creationId xmlns:a16="http://schemas.microsoft.com/office/drawing/2014/main" id="{7BAEF2EE-B1BA-DC25-4DE0-001253ACE58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30490" y="2032578"/>
            <a:ext cx="6695257" cy="39805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149556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ABB98E38-0569-469E-087C-C32C664346A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5351" y="884530"/>
            <a:ext cx="6183985" cy="5737799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116AC697-2ACC-B458-D63D-44D46A701A9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29939" y="2841723"/>
            <a:ext cx="3210373" cy="23434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5353554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719A0A-7631-DE0F-F546-0E61C6E42F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2F38D9-FB44-A29C-58E1-F5C2CDDB52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8160" y="722301"/>
            <a:ext cx="11155680" cy="787571"/>
          </a:xfrm>
        </p:spPr>
        <p:txBody>
          <a:bodyPr/>
          <a:lstStyle/>
          <a:p>
            <a:pPr algn="ctr"/>
            <a:r>
              <a:rPr lang="en-DE" dirty="0"/>
              <a:t>TASK 2</a:t>
            </a:r>
            <a:r>
              <a:rPr lang="en-IN" dirty="0"/>
              <a:t>.1</a:t>
            </a:r>
            <a:endParaRPr lang="en-DE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9D407E3-68E1-DAC7-2912-A0012D4FDF1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32255" y="2105862"/>
            <a:ext cx="7122289" cy="4357068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47407A29-EAE1-6792-B2F2-D56E983E6598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17581" b="5913"/>
          <a:stretch>
            <a:fillRect/>
          </a:stretch>
        </p:blipFill>
        <p:spPr>
          <a:xfrm>
            <a:off x="118186" y="1767440"/>
            <a:ext cx="5717006" cy="16707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7403458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58A051-4C70-8268-AADA-8A58AE5889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5ED060-980A-464D-8252-1DD4DBCC9C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8160" y="665999"/>
            <a:ext cx="11155680" cy="787571"/>
          </a:xfrm>
        </p:spPr>
        <p:txBody>
          <a:bodyPr/>
          <a:lstStyle/>
          <a:p>
            <a:pPr algn="ctr"/>
            <a:r>
              <a:rPr lang="en-DE" dirty="0"/>
              <a:t>TASK 2</a:t>
            </a:r>
            <a:r>
              <a:rPr lang="en-IN" dirty="0"/>
              <a:t>.2</a:t>
            </a:r>
            <a:endParaRPr lang="en-DE" dirty="0"/>
          </a:p>
        </p:txBody>
      </p:sp>
      <p:pic>
        <p:nvPicPr>
          <p:cNvPr id="5" name="Picture 4" descr="A graph of a number of lines&#10;&#10;AI-generated content may be incorrect.">
            <a:extLst>
              <a:ext uri="{FF2B5EF4-FFF2-40B4-BE49-F238E27FC236}">
                <a16:creationId xmlns:a16="http://schemas.microsoft.com/office/drawing/2014/main" id="{88DB554E-3519-E552-0FAF-1ADF9737FFE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98131" y="2123911"/>
            <a:ext cx="5775709" cy="3665477"/>
          </a:xfrm>
          <a:prstGeom prst="rect">
            <a:avLst/>
          </a:prstGeom>
        </p:spPr>
      </p:pic>
      <p:pic>
        <p:nvPicPr>
          <p:cNvPr id="8" name="Picture 7" descr="A graph of a number of colored lines&#10;&#10;AI-generated content may be incorrect.">
            <a:extLst>
              <a:ext uri="{FF2B5EF4-FFF2-40B4-BE49-F238E27FC236}">
                <a16:creationId xmlns:a16="http://schemas.microsoft.com/office/drawing/2014/main" id="{54A134FC-CA0C-96C5-D6F9-CB063CDFD36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53" y="2485638"/>
            <a:ext cx="5359167" cy="3244665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75E093B6-9525-59E4-9867-00EB5464A97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67538" y="5879592"/>
            <a:ext cx="2939088" cy="720365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39627A2A-9FEA-7BD2-A911-8559D42785B9}"/>
                  </a:ext>
                </a:extLst>
              </p:cNvPr>
              <p:cNvSpPr txBox="1"/>
              <p:nvPr/>
            </p:nvSpPr>
            <p:spPr>
              <a:xfrm>
                <a:off x="4065310" y="5980464"/>
                <a:ext cx="6094428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IN" dirty="0"/>
                  <a:t>Steady-state concentration of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ar-AE" i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IN" b="0" i="1" smtClean="0">
                        <a:latin typeface="Cambria Math" panose="02040503050406030204" pitchFamily="18" charset="0"/>
                      </a:rPr>
                      <m:t>:</m:t>
                    </m:r>
                  </m:oMath>
                </a14:m>
                <a:endParaRPr lang="en-IN" dirty="0"/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39627A2A-9FEA-7BD2-A911-8559D42785B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65310" y="5980464"/>
                <a:ext cx="6094428" cy="369332"/>
              </a:xfrm>
              <a:prstGeom prst="rect">
                <a:avLst/>
              </a:prstGeom>
              <a:blipFill>
                <a:blip r:embed="rId5"/>
                <a:stretch>
                  <a:fillRect l="-900" t="-8197" b="-24590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Rectangle 10">
            <a:extLst>
              <a:ext uri="{FF2B5EF4-FFF2-40B4-BE49-F238E27FC236}">
                <a16:creationId xmlns:a16="http://schemas.microsoft.com/office/drawing/2014/main" id="{63994F79-DF01-B406-F2E5-C793EAA64E63}"/>
              </a:ext>
            </a:extLst>
          </p:cNvPr>
          <p:cNvSpPr/>
          <p:nvPr/>
        </p:nvSpPr>
        <p:spPr>
          <a:xfrm>
            <a:off x="4006392" y="5879592"/>
            <a:ext cx="6429080" cy="720365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FC5DA58A-A65D-F733-B8FE-5A89DD01EC0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14906" y="1336340"/>
            <a:ext cx="8192643" cy="8573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0253247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E68B8D35-D2A3-B8BD-806C-1A9986815BA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76487" y="861829"/>
            <a:ext cx="6337954" cy="56646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7507174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B26B63-E82B-C60F-C4FA-9812E3B55A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340EE1-F37A-3D33-5865-E55D0782E2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11155680" cy="787571"/>
          </a:xfrm>
        </p:spPr>
        <p:txBody>
          <a:bodyPr/>
          <a:lstStyle/>
          <a:p>
            <a:pPr algn="ctr"/>
            <a:r>
              <a:rPr lang="en-DE" dirty="0"/>
              <a:t>TASK 3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07F1CA50-CD4A-557D-29F5-8B429ECA27B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79084" y="2445124"/>
            <a:ext cx="6562439" cy="3899087"/>
          </a:xfrm>
          <a:prstGeom prst="rect">
            <a:avLst/>
          </a:prstGeom>
        </p:spPr>
      </p:pic>
      <p:pic>
        <p:nvPicPr>
          <p:cNvPr id="4" name="Picture 3" descr="A graph with a blue line&#10;&#10;AI-generated content may be incorrect.">
            <a:extLst>
              <a:ext uri="{FF2B5EF4-FFF2-40B4-BE49-F238E27FC236}">
                <a16:creationId xmlns:a16="http://schemas.microsoft.com/office/drawing/2014/main" id="{5020A3D9-ACD1-BE94-A602-B7EF1B1CC37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7247" y="1860873"/>
            <a:ext cx="5613855" cy="38742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2435785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571CFF-EE38-3A56-98AA-90A8284122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D3F5FA-4171-53E7-9941-C3EEDF3004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11155680" cy="787571"/>
          </a:xfrm>
        </p:spPr>
        <p:txBody>
          <a:bodyPr/>
          <a:lstStyle/>
          <a:p>
            <a:pPr algn="ctr"/>
            <a:r>
              <a:rPr lang="en-DE" dirty="0"/>
              <a:t>TASK 3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DA014795-4F15-15F5-537C-18624C211EA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45683" y="2744576"/>
            <a:ext cx="6092088" cy="3606985"/>
          </a:xfrm>
          <a:prstGeom prst="rect">
            <a:avLst/>
          </a:prstGeom>
        </p:spPr>
      </p:pic>
      <p:pic>
        <p:nvPicPr>
          <p:cNvPr id="5" name="Picture 4" descr="A graph with lines and numbers&#10;&#10;AI-generated content may be incorrect.">
            <a:extLst>
              <a:ext uri="{FF2B5EF4-FFF2-40B4-BE49-F238E27FC236}">
                <a16:creationId xmlns:a16="http://schemas.microsoft.com/office/drawing/2014/main" id="{468D926D-3596-996E-C8DA-8615436D511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7486" y="1765979"/>
            <a:ext cx="5781639" cy="36488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2882870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50FD760C-BE84-B9B8-A72C-23756609FD78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620270" y="2966955"/>
            <a:ext cx="11156950" cy="1463675"/>
          </a:xfrm>
        </p:spPr>
        <p:txBody>
          <a:bodyPr/>
          <a:lstStyle/>
          <a:p>
            <a:r>
              <a:rPr lang="en-IN" dirty="0"/>
              <a:t>THANK YOU!</a:t>
            </a:r>
          </a:p>
        </p:txBody>
      </p:sp>
    </p:spTree>
    <p:extLst>
      <p:ext uri="{BB962C8B-B14F-4D97-AF65-F5344CB8AC3E}">
        <p14:creationId xmlns:p14="http://schemas.microsoft.com/office/powerpoint/2010/main" val="3799579085"/>
      </p:ext>
    </p:extLst>
  </p:cSld>
  <p:clrMapOvr>
    <a:masterClrMapping/>
  </p:clrMapOvr>
</p:sld>
</file>

<file path=ppt/theme/theme1.xml><?xml version="1.0" encoding="utf-8"?>
<a:theme xmlns:a="http://schemas.openxmlformats.org/drawingml/2006/main" name="GestaltVTI">
  <a:themeElements>
    <a:clrScheme name="Gestalt">
      <a:dk1>
        <a:srgbClr val="000000"/>
      </a:dk1>
      <a:lt1>
        <a:sysClr val="window" lastClr="FFFFFF"/>
      </a:lt1>
      <a:dk2>
        <a:srgbClr val="262626"/>
      </a:dk2>
      <a:lt2>
        <a:srgbClr val="F7F7F7"/>
      </a:lt2>
      <a:accent1>
        <a:srgbClr val="EBA000"/>
      </a:accent1>
      <a:accent2>
        <a:srgbClr val="00BAC8"/>
      </a:accent2>
      <a:accent3>
        <a:srgbClr val="E64823"/>
      </a:accent3>
      <a:accent4>
        <a:srgbClr val="4D5AFF"/>
      </a:accent4>
      <a:accent5>
        <a:srgbClr val="FE5D21"/>
      </a:accent5>
      <a:accent6>
        <a:srgbClr val="00C777"/>
      </a:accent6>
      <a:hlink>
        <a:srgbClr val="2998E3"/>
      </a:hlink>
      <a:folHlink>
        <a:srgbClr val="939393"/>
      </a:folHlink>
    </a:clrScheme>
    <a:fontScheme name="Gestalt">
      <a:majorFont>
        <a:latin typeface="Bierstadt"/>
        <a:ea typeface=""/>
        <a:cs typeface=""/>
      </a:majorFont>
      <a:minorFont>
        <a:latin typeface="Bierstad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GestaltVTI" id="{4F87C71D-53D1-4B71-BF97-FD0EA4B25665}" vid="{A110AFC4-8D8A-4C02-8885-7BA370B379B5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27</TotalTime>
  <Words>49</Words>
  <Application>Microsoft Office PowerPoint</Application>
  <PresentationFormat>Widescreen</PresentationFormat>
  <Paragraphs>12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Arial</vt:lpstr>
      <vt:lpstr>Bierstadt</vt:lpstr>
      <vt:lpstr>Cambria Math</vt:lpstr>
      <vt:lpstr>GestaltVTI</vt:lpstr>
      <vt:lpstr>Basics in Computational Methods in Biotechnology Case Study 1</vt:lpstr>
      <vt:lpstr>PowerPoint Presentation</vt:lpstr>
      <vt:lpstr>TASK 1</vt:lpstr>
      <vt:lpstr>PowerPoint Presentation</vt:lpstr>
      <vt:lpstr>TASK 2.1</vt:lpstr>
      <vt:lpstr>TASK 2.2</vt:lpstr>
      <vt:lpstr>PowerPoint Presentation</vt:lpstr>
      <vt:lpstr>TASK 3</vt:lpstr>
      <vt:lpstr>TASK 3</vt:lpstr>
      <vt:lpstr>THANK YOU!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Om Mihani</dc:creator>
  <cp:lastModifiedBy>Deepa RamaKrishnan Subathra</cp:lastModifiedBy>
  <cp:revision>3</cp:revision>
  <dcterms:created xsi:type="dcterms:W3CDTF">2025-12-16T15:09:47Z</dcterms:created>
  <dcterms:modified xsi:type="dcterms:W3CDTF">2025-12-17T08:17:18Z</dcterms:modified>
</cp:coreProperties>
</file>